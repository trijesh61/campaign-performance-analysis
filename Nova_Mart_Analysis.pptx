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498079" cy="2926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1100" b="1">
                <a:solidFill>
                  <a:srgbClr val="F58437"/>
                </a:solidFill>
                <a:latin typeface="Aptos"/>
              </a:defRPr>
            </a:pPr>
            <a:r>
              <a:t>CLIENT PRESENTATION  |  FMCG PROMOTIONAL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7315200" cy="16002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"/>
              </a:defRPr>
            </a:pPr>
            <a:r>
              <a:t>Nova Mart</a:t>
            </a:r>
            <a:br/>
            <a:r>
              <a:t>Diwali 2023 &amp; Sankranti 2024</a:t>
            </a:r>
            <a:br/>
            <a:r>
              <a:t>Campaign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6858000" cy="6858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1700" b="0">
                <a:solidFill>
                  <a:srgbClr val="AFB6C3"/>
                </a:solidFill>
                <a:latin typeface="Aptos"/>
              </a:defRPr>
            </a:pPr>
            <a:r>
              <a:t>Promotional performance across Nova Mart stores and Nova-branded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6766560" cy="31089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1400" b="1">
                <a:solidFill>
                  <a:srgbClr val="F5F7FA"/>
                </a:solidFill>
                <a:latin typeface="Aptos"/>
              </a:defRPr>
            </a:pPr>
            <a:r>
              <a:t>Prepared by Trijesh Kondapuram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68112"/>
            <a:ext cx="6766560" cy="2743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1100" b="0">
                <a:solidFill>
                  <a:srgbClr val="AFB6C3"/>
                </a:solidFill>
                <a:latin typeface="Aptos"/>
              </a:defRPr>
            </a:pPr>
            <a:r>
              <a:t>Data Science Intern  |  AtliQ Technologies Pvt.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6949440" cy="182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900" b="0">
                <a:solidFill>
                  <a:srgbClr val="AFB6C3"/>
                </a:solidFill>
                <a:latin typeface="Aptos"/>
              </a:defRPr>
            </a:pPr>
            <a:r>
              <a:t>Business insights to support the next promotional campaign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0876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1440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1000" b="1">
                <a:solidFill>
                  <a:srgbClr val="F58437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51560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"/>
              </a:defRPr>
            </a:pPr>
            <a:r>
              <a:t>What the campaign data tells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698480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1000" b="0">
                <a:solidFill>
                  <a:srgbClr val="AFB6C3"/>
                </a:solidFill>
                <a:latin typeface="Aptos"/>
              </a:defRPr>
            </a:pPr>
            <a:r>
              <a:t>Nova Mart supplied data from Diwali 2023 and Sankranti 2024; the seven charts here focus on the supplied Sankranti questions.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19456"/>
            <a:ext cx="50292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691640"/>
            <a:ext cx="2606040" cy="1234440"/>
          </a:xfrm>
          <a:prstGeom prst="roundRect">
            <a:avLst/>
          </a:prstGeom>
          <a:solidFill>
            <a:srgbClr val="1D202B"/>
          </a:solidFill>
          <a:ln>
            <a:solidFill>
              <a:srgbClr val="30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47088"/>
            <a:ext cx="22860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2300" b="1">
                <a:solidFill>
                  <a:srgbClr val="F58437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67712"/>
            <a:ext cx="22860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1100" b="1">
                <a:solidFill>
                  <a:srgbClr val="F5F7FA"/>
                </a:solidFill>
                <a:latin typeface="Aptos"/>
              </a:defRPr>
            </a:pPr>
            <a:r>
              <a:t>Bengaluru stores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42032"/>
            <a:ext cx="22860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900" b="0">
                <a:solidFill>
                  <a:srgbClr val="AFB6C3"/>
                </a:solidFill>
                <a:latin typeface="Aptos"/>
              </a:defRPr>
            </a:pPr>
            <a:r>
              <a:t>Largest store footprint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91640"/>
            <a:ext cx="2606040" cy="1234440"/>
          </a:xfrm>
          <a:prstGeom prst="roundRect">
            <a:avLst/>
          </a:prstGeom>
          <a:solidFill>
            <a:srgbClr val="1D202B"/>
          </a:solidFill>
          <a:ln>
            <a:solidFill>
              <a:srgbClr val="30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847088"/>
            <a:ext cx="22860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2300" b="1">
                <a:solidFill>
                  <a:srgbClr val="F58437"/>
                </a:solidFill>
                <a:latin typeface="Aptos"/>
              </a:defRPr>
            </a:pPr>
            <a:r>
              <a:t>70.5%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267712"/>
            <a:ext cx="22860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1100" b="1">
                <a:solidFill>
                  <a:srgbClr val="F5F7FA"/>
                </a:solidFill>
                <a:latin typeface="Aptos"/>
              </a:defRPr>
            </a:pPr>
            <a:r>
              <a:t>Grocery &amp; Staples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542032"/>
            <a:ext cx="22860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900" b="0">
                <a:solidFill>
                  <a:srgbClr val="AFB6C3"/>
                </a:solidFill>
                <a:latin typeface="Aptos"/>
              </a:defRPr>
            </a:pPr>
            <a:r>
              <a:t>177,724 promoted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2606040" cy="1234440"/>
          </a:xfrm>
          <a:prstGeom prst="roundRect">
            <a:avLst/>
          </a:prstGeom>
          <a:solidFill>
            <a:srgbClr val="1D202B"/>
          </a:solidFill>
          <a:ln>
            <a:solidFill>
              <a:srgbClr val="30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847088"/>
            <a:ext cx="22860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2300" b="1">
                <a:solidFill>
                  <a:srgbClr val="F58437"/>
                </a:solidFill>
                <a:latin typeface="Aptos"/>
              </a:defRPr>
            </a:pPr>
            <a:r>
              <a:t>+0.27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267712"/>
            <a:ext cx="22860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1100" b="1">
                <a:solidFill>
                  <a:srgbClr val="F5F7FA"/>
                </a:solidFill>
                <a:latin typeface="Aptos"/>
              </a:defRPr>
            </a:pPr>
            <a:r>
              <a:t>Price–quantity 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542032"/>
            <a:ext cx="22860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900" b="0">
                <a:solidFill>
                  <a:srgbClr val="AFB6C3"/>
                </a:solidFill>
                <a:latin typeface="Aptos"/>
              </a:defRPr>
            </a:pPr>
            <a:r>
              <a:t>Weak positive association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691640"/>
            <a:ext cx="2606040" cy="1234440"/>
          </a:xfrm>
          <a:prstGeom prst="roundRect">
            <a:avLst/>
          </a:prstGeom>
          <a:solidFill>
            <a:srgbClr val="1D202B"/>
          </a:solidFill>
          <a:ln>
            <a:solidFill>
              <a:srgbClr val="30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1847088"/>
            <a:ext cx="22860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2300" b="1">
                <a:solidFill>
                  <a:srgbClr val="F58437"/>
                </a:solidFill>
                <a:latin typeface="Aptos"/>
              </a:defRPr>
            </a:pPr>
            <a:r>
              <a:t>~121%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267712"/>
            <a:ext cx="22860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1100" b="1">
                <a:solidFill>
                  <a:srgbClr val="F5F7FA"/>
                </a:solidFill>
                <a:latin typeface="Aptos"/>
              </a:defRPr>
            </a:pPr>
            <a:r>
              <a:t>Madurai ISU 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2542032"/>
            <a:ext cx="2286000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900" b="0">
                <a:solidFill>
                  <a:srgbClr val="AFB6C3"/>
                </a:solidFill>
                <a:latin typeface="Aptos"/>
              </a:defRPr>
            </a:pPr>
            <a:r>
              <a:t>Highest supplied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246120"/>
            <a:ext cx="10972800" cy="2240280"/>
          </a:xfrm>
          <a:prstGeom prst="roundRect">
            <a:avLst/>
          </a:prstGeom>
          <a:solidFill>
            <a:srgbClr val="1D202B"/>
          </a:solidFill>
          <a:ln>
            <a:solidFill>
              <a:srgbClr val="303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456432"/>
            <a:ext cx="45720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1100" b="1">
                <a:solidFill>
                  <a:srgbClr val="F58437"/>
                </a:solidFill>
                <a:latin typeface="Aptos"/>
              </a:defRPr>
            </a:pPr>
            <a:r>
              <a:t>CAMPAIGN SCOPE &amp; TOP TAKEAWAYS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794760"/>
            <a:ext cx="10287000" cy="1481328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5F7FA"/>
                </a:solidFill>
                <a:latin typeface="Aptos"/>
              </a:defRPr>
            </a:pPr>
            <a:r>
              <a:t>• Source data covers Diwali 2023 and Sankranti 2024; supplied charts focus on Sankranti questions.</a:t>
            </a:r>
          </a:p>
          <a:p>
            <a:pPr>
              <a:spcAft>
                <a:spcPts val="500"/>
              </a:spcAft>
              <a:defRPr sz="1100">
                <a:solidFill>
                  <a:srgbClr val="F5F7FA"/>
                </a:solidFill>
                <a:latin typeface="Aptos"/>
              </a:defRPr>
            </a:pPr>
            <a:r>
              <a:t>• Bengaluru has the largest store footprint, followed by Chennai and Hyderabad.</a:t>
            </a:r>
          </a:p>
          <a:p>
            <a:pPr>
              <a:spcAft>
                <a:spcPts val="500"/>
              </a:spcAft>
              <a:defRPr sz="1100">
                <a:solidFill>
                  <a:srgbClr val="F5F7FA"/>
                </a:solidFill>
                <a:latin typeface="Aptos"/>
              </a:defRPr>
            </a:pPr>
            <a:r>
              <a:t>• Grocery &amp; Staples dominates promoted unit volume; Home Appliances is next.</a:t>
            </a:r>
          </a:p>
          <a:p>
            <a:pPr>
              <a:spcAft>
                <a:spcPts val="500"/>
              </a:spcAft>
              <a:defRPr sz="1100">
                <a:solidFill>
                  <a:srgbClr val="F5F7FA"/>
                </a:solidFill>
                <a:latin typeface="Aptos"/>
              </a:defRPr>
            </a:pPr>
            <a:r>
              <a:t>• Hyderabad: Cashback leads incremental revenue, while BOGOF leads incremental units.</a:t>
            </a:r>
          </a:p>
          <a:p>
            <a:pPr>
              <a:spcAft>
                <a:spcPts val="500"/>
              </a:spcAft>
              <a:defRPr sz="1100">
                <a:solidFill>
                  <a:srgbClr val="F5F7FA"/>
                </a:solidFill>
                <a:latin typeface="Aptos"/>
              </a:defRPr>
            </a:pPr>
            <a:r>
              <a:t>• Bengaluru: Combo1 shows the strongest revenue increase; Personal Care declines.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263640"/>
            <a:ext cx="777240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>
              <a:defRPr sz="900" b="0">
                <a:solidFill>
                  <a:srgbClr val="AFB6C3"/>
                </a:solidFill>
                <a:latin typeface="Aptos"/>
              </a:defRPr>
            </a:pPr>
            <a:r>
              <a:t>Prepared for Nova Mart • AtliQ Technologies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r">
              <a:defRPr sz="900" b="0">
                <a:solidFill>
                  <a:srgbClr val="AFB6C3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144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F58437"/>
                </a:solidFill>
                <a:latin typeface="Aptos"/>
              </a:defRPr>
            </a:pPr>
            <a:r>
              <a:t>01 • STORE FOOTPRINT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515600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"/>
              </a:defRPr>
            </a:pPr>
            <a:r>
              <a:t>Bengaluru has the largest store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FB6C3"/>
                </a:solidFill>
                <a:latin typeface="Aptos"/>
              </a:defRPr>
            </a:pPr>
            <a:r>
              <a:t>Store counts across the ten cities in the supplied chart.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19456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FB6C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36192"/>
            <a:ext cx="7635240" cy="45720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7498079" cy="44439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536192"/>
            <a:ext cx="3429000" cy="45720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1783080"/>
            <a:ext cx="2834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F58437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176272"/>
            <a:ext cx="2880360" cy="3657600"/>
          </a:xfrm>
          <a:prstGeom prst="rect">
            <a:avLst/>
          </a:prstGeom>
          <a:noFill/>
        </p:spPr>
        <p:txBody>
          <a:bodyPr wrap="square" lIns="36576" rIns="36576" tIns="36576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Bengaluru leads with 300 stores.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Chennai has 240 and Hyderabad has 210.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Coimbatore and Visakhapatnam are tied at 150 stores.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Vijayawada and Trivandrum have the smallest footprints at 60 each.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Bengaluru has 25% more stores than Chennai and about 43% more than Hyderabad.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144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F58437"/>
                </a:solidFill>
                <a:latin typeface="Aptos"/>
              </a:defRPr>
            </a:pPr>
            <a:r>
              <a:t>02 • SANKRANTI CATEGORY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515600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"/>
              </a:defRPr>
            </a:pPr>
            <a:r>
              <a:t>Grocery &amp; Staples dominates promoted unit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FB6C3"/>
                </a:solidFill>
                <a:latin typeface="Aptos"/>
              </a:defRPr>
            </a:pPr>
            <a:r>
              <a:t>Share of total quantity sold after promotion.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19456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FB6C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36192"/>
            <a:ext cx="7635240" cy="45720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7498079" cy="44439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536192"/>
            <a:ext cx="3429000" cy="45720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1783080"/>
            <a:ext cx="2834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F58437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176272"/>
            <a:ext cx="2880360" cy="3657600"/>
          </a:xfrm>
          <a:prstGeom prst="rect">
            <a:avLst/>
          </a:prstGeom>
          <a:noFill/>
        </p:spPr>
        <p:txBody>
          <a:bodyPr wrap="square" lIns="36576" rIns="36576" tIns="36576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Grocery &amp; Staples contributes 70.5% (177,724 units).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Home Appliances contributes 14.1% (35,610 units).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Home Care contributes 6.7%; Combo1 4.9%; Personal Care 3.7%.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The top two categories contribute about 84.6% of promoted units.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Prioritize stock availability in core categories and test focused offers in smaller categories.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144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F58437"/>
                </a:solidFill>
                <a:latin typeface="Aptos"/>
              </a:defRPr>
            </a:pPr>
            <a:r>
              <a:t>03 • PRICE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515600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"/>
              </a:defRPr>
            </a:pPr>
            <a:r>
              <a:t>Price has a weak positive relationship with sales quantity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FB6C3"/>
                </a:solidFill>
                <a:latin typeface="Aptos"/>
              </a:defRPr>
            </a:pPr>
            <a:r>
              <a:t>Correlation between base price and quantity sold after promotion.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19456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FB6C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36192"/>
            <a:ext cx="7635240" cy="45720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7498079" cy="44439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536192"/>
            <a:ext cx="3429000" cy="45720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1783080"/>
            <a:ext cx="2834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F58437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176272"/>
            <a:ext cx="2880360" cy="3657600"/>
          </a:xfrm>
          <a:prstGeom prst="rect">
            <a:avLst/>
          </a:prstGeom>
          <a:noFill/>
        </p:spPr>
        <p:txBody>
          <a:bodyPr wrap="square" lIns="36576" rIns="36576" tIns="36576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The chart shows a correlation of +0.27.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This is a weak positive association; it does not show that higher prices cause higher sales.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Demand, discount depth, product type, city and promotion mechanics may also influence volume.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Compare similar products and promotion types before drawing pricing conclusions.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144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F58437"/>
                </a:solidFill>
                <a:latin typeface="Aptos"/>
              </a:defRPr>
            </a:pPr>
            <a:r>
              <a:t>04 • PRE-PROMOTION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515600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"/>
              </a:defRPr>
            </a:pPr>
            <a:r>
              <a:t>Baseline demand varies by product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FB6C3"/>
                </a:solidFill>
                <a:latin typeface="Aptos"/>
              </a:defRPr>
            </a:pPr>
            <a:r>
              <a:t>Distribution of quantity sold before promotion by category.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19456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FB6C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36192"/>
            <a:ext cx="7635240" cy="45720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7498079" cy="44439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536192"/>
            <a:ext cx="3429000" cy="45720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1783080"/>
            <a:ext cx="2834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F58437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176272"/>
            <a:ext cx="2880360" cy="3657600"/>
          </a:xfrm>
          <a:prstGeom prst="rect">
            <a:avLst/>
          </a:prstGeom>
          <a:noFill/>
        </p:spPr>
        <p:txBody>
          <a:bodyPr wrap="square" lIns="36576" rIns="36576" tIns="36576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Grocery &amp; Staples has the highest quantities and a broad distribution.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Home Care and Personal Care cluster at lower quantities and have right-skewed tails.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Home Appliances spans a wider range of baseline demand.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Combo1 appears to have multiple demand clusters.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Use category-specific baselines and targets instead of one threshold for all products.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144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F58437"/>
                </a:solidFill>
                <a:latin typeface="Aptos"/>
              </a:defRPr>
            </a:pPr>
            <a:r>
              <a:t>05 • CITY-LEVEL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515600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"/>
              </a:defRPr>
            </a:pPr>
            <a:r>
              <a:t>Madurai has the highest displayed ISU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FB6C3"/>
                </a:solidFill>
                <a:latin typeface="Aptos"/>
              </a:defRPr>
            </a:pPr>
            <a:r>
              <a:t>City comparison based on the supplied ISU% visualization.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19456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FB6C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36192"/>
            <a:ext cx="7635240" cy="45720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7498079" cy="44439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536192"/>
            <a:ext cx="3429000" cy="45720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1783080"/>
            <a:ext cx="2834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F58437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176272"/>
            <a:ext cx="2880360" cy="3657600"/>
          </a:xfrm>
          <a:prstGeom prst="rect">
            <a:avLst/>
          </a:prstGeom>
          <a:noFill/>
        </p:spPr>
        <p:txBody>
          <a:bodyPr wrap="square" lIns="36576" rIns="36576" tIns="36576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Madurai is highest at approximately 121% in the supplied chart.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Visakhapatnam is lowest at approximately 99%.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Other cities range roughly from 100% to 115%.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Validate the ISU% formula and whether the plot represents uplift or an index.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Study high-performing city conditions and test localized offers in lower-performing markets.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144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F58437"/>
                </a:solidFill>
                <a:latin typeface="Aptos"/>
              </a:defRPr>
            </a:pPr>
            <a:r>
              <a:t>06 • PROMOTION EFFECTIVENESS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515600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"/>
              </a:defRPr>
            </a:pPr>
            <a:r>
              <a:t>Hyderabad: Cashback leads revenue; BOGOF leads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FB6C3"/>
                </a:solidFill>
                <a:latin typeface="Aptos"/>
              </a:defRPr>
            </a:pPr>
            <a:r>
              <a:t>Incremental revenue versus incremental sold units by promotion type.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19456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FB6C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36192"/>
            <a:ext cx="7635240" cy="45720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7498079" cy="44439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536192"/>
            <a:ext cx="3429000" cy="45720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1783080"/>
            <a:ext cx="2834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F58437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176272"/>
            <a:ext cx="2880360" cy="3657600"/>
          </a:xfrm>
          <a:prstGeom prst="rect">
            <a:avLst/>
          </a:prstGeom>
          <a:noFill/>
        </p:spPr>
        <p:txBody>
          <a:bodyPr wrap="square" lIns="36576" rIns="36576" tIns="36576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500 Cashback shows the highest incremental revenue, about 12.9 million.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BOGOF produces the highest incremental sold units, about 24,000.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25% OFF, 33% OFF and 50% OFF sit near or below zero incremental revenue in the chart.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Choose offers based on the objective: revenue versus unit growth.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Include margin and campaign cost before selecting an overall winner.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144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F58437"/>
                </a:solidFill>
                <a:latin typeface="Aptos"/>
              </a:defRPr>
            </a:pPr>
            <a:r>
              <a:t>07 • BENGALURU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515600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"/>
              </a:defRPr>
            </a:pPr>
            <a:r>
              <a:t>Combo1 drives the largest Bengaluru revenue increase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FB6C3"/>
                </a:solidFill>
                <a:latin typeface="Aptos"/>
              </a:defRPr>
            </a:pPr>
            <a:r>
              <a:t>Revenue before and after promotion by category in Bengaluru.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19456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FB6C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36192"/>
            <a:ext cx="7635240" cy="45720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7498079" cy="44439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536192"/>
            <a:ext cx="3429000" cy="45720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1783080"/>
            <a:ext cx="2834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F58437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176272"/>
            <a:ext cx="2880360" cy="3657600"/>
          </a:xfrm>
          <a:prstGeom prst="rect">
            <a:avLst/>
          </a:prstGeom>
          <a:noFill/>
        </p:spPr>
        <p:txBody>
          <a:bodyPr wrap="square" lIns="36576" rIns="36576" tIns="36576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Combo1 rises from about 15.7M to 38.0M—the largest increase.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Grocery &amp; Staples grows from roughly 12.2M to 13.8M.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Home Appliances and Home Care also rise from smaller bases.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Personal Care declines from roughly 0.5M to 0.3M.</a:t>
            </a:r>
          </a:p>
          <a:p>
            <a:pPr>
              <a:spcAft>
                <a:spcPts val="11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Revenue improves overall, but profitability and promotion costs should also be assessed.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144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F58437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515600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"/>
              </a:defRPr>
            </a:pPr>
            <a:r>
              <a:t>Actions for Nova Mart’s next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FB6C3"/>
                </a:solidFill>
                <a:latin typeface="Aptos"/>
              </a:defRPr>
            </a:pPr>
            <a:r>
              <a:t>Use these findings to shape measurable tests and operational priorities.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19456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FB6C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10881360" cy="6858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5843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37360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5F7FA"/>
                </a:solidFill>
                <a:latin typeface="Aptos"/>
              </a:defRPr>
            </a:pPr>
            <a:r>
              <a:t>Protect core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719072"/>
            <a:ext cx="74066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FB6C3"/>
                </a:solidFill>
                <a:latin typeface="Aptos"/>
              </a:defRPr>
            </a:pPr>
            <a:r>
              <a:t>Plan replenishment for Grocery &amp; Staples ahead of the festival; it represents about seven in ten promoted units.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87168"/>
            <a:ext cx="10881360" cy="6858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24327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5843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96896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5F7FA"/>
                </a:solidFill>
                <a:latin typeface="Aptos"/>
              </a:defRPr>
            </a:pPr>
            <a:r>
              <a:t>Review Combo1 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578608"/>
            <a:ext cx="74066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FB6C3"/>
                </a:solidFill>
                <a:latin typeface="Aptos"/>
              </a:defRPr>
            </a:pPr>
            <a:r>
              <a:t>Investigate Bengaluru’s Combo1 uplift and verify margin, cannibalization and stock-out risk before scaling.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46704"/>
            <a:ext cx="10881360" cy="6858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83864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5843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56432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5F7FA"/>
                </a:solidFill>
                <a:latin typeface="Aptos"/>
              </a:defRPr>
            </a:pPr>
            <a:r>
              <a:t>Match offer to 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438144"/>
            <a:ext cx="74066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FB6C3"/>
                </a:solidFill>
                <a:latin typeface="Aptos"/>
              </a:defRPr>
            </a:pPr>
            <a:r>
              <a:t>Test Cashback for revenue and BOGOF for unit growth; compare incremental profit, not just sales.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06240"/>
            <a:ext cx="10881360" cy="6858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5843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15968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5F7FA"/>
                </a:solidFill>
                <a:latin typeface="Aptos"/>
              </a:defRPr>
            </a:pPr>
            <a:r>
              <a:t>Localize city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297679"/>
            <a:ext cx="74066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FB6C3"/>
                </a:solidFill>
                <a:latin typeface="Aptos"/>
              </a:defRPr>
            </a:pPr>
            <a:r>
              <a:t>Explore what is working in Madurai and test targeted changes in Visakhapatnam.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65776"/>
            <a:ext cx="10881360" cy="68580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202936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5843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175504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5F7FA"/>
                </a:solidFill>
                <a:latin typeface="Aptos"/>
              </a:defRPr>
            </a:pPr>
            <a:r>
              <a:t>Measure campaign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157216"/>
            <a:ext cx="74066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FB6C3"/>
                </a:solidFill>
                <a:latin typeface="Aptos"/>
              </a:defRPr>
            </a:pPr>
            <a:r>
              <a:t>Track margin, incremental profit, basket size, redemption, repeat purchase and stock availability.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863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F58437"/>
                </a:solidFill>
                <a:latin typeface="Aptos"/>
              </a:defRPr>
            </a:pPr>
            <a:r>
              <a:t>CLOSING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15568"/>
            <a:ext cx="97840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"/>
              </a:defRPr>
            </a:pPr>
            <a:r>
              <a:t>Focus investment where volume and revenue are strongest—then validate profitability.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6858000" cy="2423160"/>
          </a:xfrm>
          <a:prstGeom prst="roundRect">
            <a:avLst/>
          </a:prstGeom>
          <a:solidFill>
            <a:srgbClr val="1D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724912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F58437"/>
                </a:solidFill>
                <a:latin typeface="Aptos"/>
              </a:defRPr>
            </a:pPr>
            <a:r>
              <a:t>VALIDATE BEFORE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54680"/>
            <a:ext cx="6217920" cy="1417320"/>
          </a:xfrm>
          <a:prstGeom prst="rect">
            <a:avLst/>
          </a:prstGeom>
          <a:noFill/>
        </p:spPr>
        <p:txBody>
          <a:bodyPr wrap="square" lIns="36576" rIns="36576" tIns="36576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Confirm the ISU% calculation and units.</a:t>
            </a:r>
          </a:p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Reconcile chart values with the source dataset.</a:t>
            </a:r>
          </a:p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Add margin and campaign costs to compare true profitability.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2148840"/>
            <a:ext cx="2148840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57200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300" b="1">
                <a:solidFill>
                  <a:srgbClr val="F5F7F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5074920"/>
            <a:ext cx="37490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0">
                <a:solidFill>
                  <a:srgbClr val="AFB6C3"/>
                </a:solidFill>
                <a:latin typeface="Aptos"/>
              </a:defRPr>
            </a:pPr>
            <a:r>
              <a:t>AtliQ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AFB6C3"/>
                </a:solidFill>
                <a:latin typeface="Aptos"/>
              </a:defRPr>
            </a:pPr>
            <a:r>
              <a:t>Prepared for Nova Mart • Trijesh Kondapuram • Data Science Intern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